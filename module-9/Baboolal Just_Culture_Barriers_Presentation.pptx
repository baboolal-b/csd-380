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4854" y="1122363"/>
            <a:ext cx="8999118" cy="2387600"/>
          </a:xfrm>
        </p:spPr>
        <p:txBody>
          <a:bodyPr anchor="b">
            <a:normAutofit/>
          </a:bodyPr>
          <a:lstStyle>
            <a:lvl1pPr algn="ctr"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4854" y="3602038"/>
            <a:ext cx="8999118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5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2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24" y="657227"/>
            <a:ext cx="9730977" cy="2852737"/>
          </a:xfrm>
        </p:spPr>
        <p:txBody>
          <a:bodyPr anchor="b">
            <a:normAutofit/>
          </a:bodyPr>
          <a:lstStyle>
            <a:lvl1pPr>
              <a:defRPr sz="3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24" y="3602039"/>
            <a:ext cx="9730977" cy="1500187"/>
          </a:xfrm>
        </p:spPr>
        <p:txBody>
          <a:bodyPr/>
          <a:lstStyle>
            <a:lvl1pPr marL="0" indent="0" algn="ctr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8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557" y="2088320"/>
            <a:ext cx="510467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1796" y="2088320"/>
            <a:ext cx="5092827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0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507" y="2088320"/>
            <a:ext cx="487792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557" y="2912232"/>
            <a:ext cx="510587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336" y="2088320"/>
            <a:ext cx="48642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912232"/>
            <a:ext cx="5094030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4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49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50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90" y="609600"/>
            <a:ext cx="3931213" cy="2362200"/>
          </a:xfrm>
        </p:spPr>
        <p:txBody>
          <a:bodyPr anchor="b">
            <a:normAutofit/>
          </a:bodyPr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6742" y="609600"/>
            <a:ext cx="6187880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6990" y="2971801"/>
            <a:ext cx="3931213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68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9" y="609600"/>
            <a:ext cx="5928229" cy="2362200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2871" y="758881"/>
            <a:ext cx="325450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2971800"/>
            <a:ext cx="5933404" cy="2819400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94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68" y="4289373"/>
            <a:ext cx="10364864" cy="819355"/>
          </a:xfrm>
        </p:spPr>
        <p:txBody>
          <a:bodyPr anchor="b">
            <a:normAutofit/>
          </a:bodyPr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568" y="621322"/>
            <a:ext cx="103648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7" y="5108728"/>
            <a:ext cx="103632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0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6" cy="3424859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7" y="4204820"/>
            <a:ext cx="10351065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40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0"/>
            <a:ext cx="9300329" cy="2992904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196" y="3610032"/>
            <a:ext cx="8750020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4204821"/>
            <a:ext cx="10351066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394" y="73524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5181" y="2972093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6335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69" y="2126943"/>
            <a:ext cx="10352630" cy="2511835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4650556"/>
            <a:ext cx="10351067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06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556" y="609601"/>
            <a:ext cx="1035106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556" y="2088320"/>
            <a:ext cx="329809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556" y="2911624"/>
            <a:ext cx="329809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3720" y="2088320"/>
            <a:ext cx="329769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3721" y="2911624"/>
            <a:ext cx="3298962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1222" y="2088320"/>
            <a:ext cx="3290354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4269" y="2911624"/>
            <a:ext cx="3290354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8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557" y="4195899"/>
            <a:ext cx="32980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1736" y="2298987"/>
            <a:ext cx="293928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557" y="4772161"/>
            <a:ext cx="329809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1544" y="4195899"/>
            <a:ext cx="3298124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7807" y="2298987"/>
            <a:ext cx="2929762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0191" y="4772160"/>
            <a:ext cx="3299477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1347" y="4195899"/>
            <a:ext cx="328904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0681" y="2298987"/>
            <a:ext cx="2931349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1222" y="4772162"/>
            <a:ext cx="3293400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78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53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609600"/>
            <a:ext cx="254199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556" y="609600"/>
            <a:ext cx="7656711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7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557" y="2096064"/>
            <a:ext cx="10351066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6736" y="5883276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557" y="5883276"/>
            <a:ext cx="66711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1273" y="5883276"/>
            <a:ext cx="753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815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126" rtl="0" eaLnBrk="1" latinLnBrk="0" hangingPunct="1">
        <a:lnSpc>
          <a:spcPct val="90000"/>
        </a:lnSpc>
        <a:spcBef>
          <a:spcPct val="0"/>
        </a:spcBef>
        <a:buNone/>
        <a:defRPr sz="3399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Establishing a Just, Learning 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Barriers to Implementation &amp; Strategies</a:t>
            </a:r>
          </a:p>
          <a:p>
            <a:r>
              <a:rPr lang="en-US" dirty="0"/>
              <a:t>By: Brijette Baboolal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Define ‘Just Culture’ briefly</a:t>
            </a:r>
          </a:p>
          <a:p>
            <a:pPr>
              <a:defRPr sz="1800"/>
            </a:pPr>
            <a:r>
              <a:t>• Identify common barriers to implementation</a:t>
            </a:r>
          </a:p>
          <a:p>
            <a:pPr>
              <a:defRPr sz="1800"/>
            </a:pPr>
            <a:r>
              <a:t>• Provide practical strategies to overcome barriers</a:t>
            </a:r>
          </a:p>
          <a:p>
            <a:pPr>
              <a:defRPr sz="1800"/>
            </a:pPr>
            <a:r>
              <a:t>• Cite sources used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'Just Culture'?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A culture balancing accountability and learning after errors.</a:t>
            </a:r>
          </a:p>
          <a:p>
            <a:pPr>
              <a:defRPr sz="1800"/>
            </a:pPr>
            <a:r>
              <a:t>• Focuses on system design and human factors rather than blame.</a:t>
            </a:r>
          </a:p>
          <a:p>
            <a:pPr>
              <a:defRPr sz="1800"/>
            </a:pPr>
            <a:r>
              <a:t>• Encourages reporting of errors/near-misses to improve safety.</a:t>
            </a:r>
          </a:p>
          <a:p>
            <a:pPr>
              <a:defRPr sz="1800"/>
            </a:pPr>
            <a:r>
              <a:t>Sources: David Marx (Just Culture), AHRQ CUSP.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Barriers to Implementing a Just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Fear of blame and punitive consequences</a:t>
            </a:r>
          </a:p>
          <a:p>
            <a:pPr>
              <a:defRPr sz="1800"/>
            </a:pPr>
            <a:r>
              <a:t>• Leadership inconsistency or lack of commitment</a:t>
            </a:r>
          </a:p>
          <a:p>
            <a:pPr>
              <a:defRPr sz="1800"/>
            </a:pPr>
            <a:r>
              <a:t>• Legal/liability concerns and regulatory pressures</a:t>
            </a:r>
          </a:p>
          <a:p>
            <a:pPr>
              <a:defRPr sz="1800"/>
            </a:pPr>
            <a:r>
              <a:t>• Poor communication and lack of psychological safety</a:t>
            </a:r>
          </a:p>
          <a:p>
            <a:pPr>
              <a:defRPr sz="1800"/>
            </a:pPr>
            <a:r>
              <a:t>• Insufficient training and education on just culture principles</a:t>
            </a:r>
          </a:p>
          <a:p>
            <a:pPr>
              <a:defRPr sz="1800"/>
            </a:pPr>
            <a:r>
              <a:t>• Measurement gaps and misaligned incentives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just_culture_barr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10360152" cy="41440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Deeper Look: 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Fear of punishment -&gt; underreporting of errors (undermines learning).</a:t>
            </a:r>
          </a:p>
          <a:p>
            <a:pPr>
              <a:defRPr sz="1800"/>
            </a:pPr>
            <a:r>
              <a:t>Leadership inconsistency -&gt; mixed messages reduce trust in process.</a:t>
            </a:r>
          </a:p>
          <a:p>
            <a:pPr>
              <a:defRPr sz="1800"/>
            </a:pPr>
            <a:r>
              <a:t>Legal and public disclosure concerns -&gt; organizations avoid transparency.</a:t>
            </a:r>
          </a:p>
          <a:p>
            <a:pPr>
              <a:defRPr sz="1800"/>
            </a:pPr>
            <a:r>
              <a:t>These themes are echoed across AHRQ, PubMed reviews, and ECRI analyses.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Strategies to Overcome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Visible leadership commitment and consistent responses to events.</a:t>
            </a:r>
          </a:p>
          <a:p>
            <a:pPr>
              <a:defRPr sz="1800"/>
            </a:pPr>
            <a:r>
              <a:t>• Education/training on just culture principles for all staff.</a:t>
            </a:r>
          </a:p>
          <a:p>
            <a:pPr>
              <a:defRPr sz="1800"/>
            </a:pPr>
            <a:r>
              <a:t>• Clear policies distinguishing human error vs. reckless behavior.</a:t>
            </a:r>
          </a:p>
          <a:p>
            <a:pPr>
              <a:defRPr sz="1800"/>
            </a:pPr>
            <a:r>
              <a:t>• Protect reporting from punitive action; provide legal/PR guidance.</a:t>
            </a:r>
          </a:p>
          <a:p>
            <a:pPr>
              <a:defRPr sz="1800"/>
            </a:pPr>
            <a:r>
              <a:t>• Use metrics (reporting rates, safety culture surveys) to track progress.</a:t>
            </a:r>
          </a:p>
          <a:p>
            <a:pPr>
              <a:defRPr sz="1800"/>
            </a:pPr>
            <a:r>
              <a:t>• Embed learning via root-cause/system-focused investigations.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(selected)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Murray J.S., 'Requirements for implementing a just culture' (2023) - PubMed Central. (pmc)</a:t>
            </a:r>
          </a:p>
          <a:p>
            <a:pPr>
              <a:defRPr sz="1800"/>
            </a:pPr>
            <a:r>
              <a:t>AHRQ, 'Understand Just Culture' (CUSP toolkit) - AHRQ.gov.</a:t>
            </a:r>
          </a:p>
          <a:p>
            <a:pPr>
              <a:defRPr sz="1800"/>
            </a:pPr>
            <a:r>
              <a:t>David Marx, 'Patient Safety and the “Just Culture”' (2001) - Marx Primer.</a:t>
            </a:r>
          </a:p>
          <a:p>
            <a:pPr>
              <a:defRPr sz="1800"/>
            </a:pPr>
            <a:r>
              <a:t>ECRI, 'Just Culture and Its Critical Link to Patient Safety' (analysis).</a:t>
            </a:r>
          </a:p>
          <a:p>
            <a:pPr>
              <a:defRPr sz="1800"/>
            </a:pPr>
            <a:r>
              <a:t>Additional articles: Frontiers, Nursing Management, IHI Blueprint.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</TotalTime>
  <Words>351</Words>
  <Application>Microsoft Office PowerPoint</Application>
  <PresentationFormat>Custom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Establishing a Just, Learning Culture</vt:lpstr>
      <vt:lpstr>Objectives</vt:lpstr>
      <vt:lpstr>What is a 'Just Culture'?</vt:lpstr>
      <vt:lpstr>Common Barriers to Implementing a Just Culture</vt:lpstr>
      <vt:lpstr>PowerPoint Presentation</vt:lpstr>
      <vt:lpstr>Deeper Look: Key Challenges</vt:lpstr>
      <vt:lpstr>Strategies to Overcome Barriers</vt:lpstr>
      <vt:lpstr>References (selected)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Brijette Baboolal</dc:creator>
  <cp:keywords/>
  <dc:description>generated using python-pptx</dc:description>
  <cp:lastModifiedBy>Brijette Baboolal</cp:lastModifiedBy>
  <cp:revision>2</cp:revision>
  <dcterms:created xsi:type="dcterms:W3CDTF">2013-01-27T09:14:16Z</dcterms:created>
  <dcterms:modified xsi:type="dcterms:W3CDTF">2025-12-08T01:48:27Z</dcterms:modified>
  <cp:category/>
</cp:coreProperties>
</file>